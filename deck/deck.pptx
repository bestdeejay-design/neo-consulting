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FFFFFF">
                    <a:alpha val="7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3" name="decor"/>
          <p:cNvSpPr/>
          <p:nvPr/>
        </p:nvSpPr>
        <p:spPr>
          <a:xfrm>
            <a:off x="9144000" y="-1295400"/>
            <a:ext cx="3810000" cy="3810000"/>
          </a:xfrm>
          <a:prstGeom prst="ellipse">
            <a:avLst/>
          </a:prstGeom>
          <a:solidFill>
            <a:srgbClr val="3E7C8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-685800" y="5029200"/>
            <a:ext cx="1828800" cy="1828800"/>
          </a:xfrm>
          <a:prstGeom prst="ellipse">
            <a:avLst/>
          </a:prstGeom>
          <a:solidFill>
            <a:srgbClr val="3E7C8A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70560"/>
            <a:ext cx="10728960" cy="167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200" b="1" spc="360">
                <a:solidFill>
                  <a:srgbClr val="DCEAE9"/>
                </a:solidFill>
                <a:latin typeface="Arial"/>
              </a:rPr>
              <a:t>БУХГАЛТЕРИЯ · НАЛОГИ · ПРАВО · СПБ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90600"/>
            <a:ext cx="10728960" cy="2514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Arial"/>
              </a:rPr>
              <a:t>НЕО КОНСАЛТИНГ берёт бухгалтерию на аутсорсинг и возвращает предпринимателям время.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10000"/>
            <a:ext cx="1072896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000" b="0">
                <a:solidFill>
                  <a:srgbClr val="FFFFFF">
                    <a:alpha val="82000"/>
                  </a:srgbClr>
                </a:solidFill>
                <a:latin typeface="Arial"/>
              </a:rPr>
              <a:t>Бухгалтерские, налоговые и юридические услуги для ИП и ООО на УСН.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728960" cy="30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0">
                <a:solidFill>
                  <a:srgbClr val="FFFFFF">
                    <a:alpha val="70000"/>
                  </a:srgbClr>
                </a:solidFill>
                <a:latin typeface="Arial"/>
              </a:rPr>
              <a:t>ООО «НЕО КОНСАЛТИНГ»   ·   Санкт-Петербург · с 2023 года</a:t>
            </a:r>
          </a:p>
        </p:txBody>
      </p:sp>
      <p:sp>
        <p:nvSpPr>
          <p:cNvPr id="9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4D5C"/>
                </a:solidFill>
                <a:latin typeface="Arial"/>
              </a:rPr>
              <a:t>Н</a:t>
            </a:r>
          </a:p>
        </p:txBody>
      </p:sp>
      <p:sp>
        <p:nvSpPr>
          <p:cNvPr id="10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C9DBDE"/>
                </a:solidFill>
                <a:latin typeface="Arial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E4D5C"/>
                </a:solidFill>
                <a:latin typeface="Arial"/>
              </a:rPr>
              <a:t>Учёт отнимает время и не прощает ошибок.</a:t>
            </a:r>
          </a:p>
        </p:txBody>
      </p:sp>
      <p:sp>
        <p:nvSpPr>
          <p:cNvPr id="5" name="bullet-card"/>
          <p:cNvSpPr/>
          <p:nvPr/>
        </p:nvSpPr>
        <p:spPr>
          <a:xfrm>
            <a:off x="914400" y="137160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-marker"/>
          <p:cNvSpPr/>
          <p:nvPr/>
        </p:nvSpPr>
        <p:spPr>
          <a:xfrm>
            <a:off x="1112520" y="165354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45542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0">
                <a:solidFill>
                  <a:srgbClr val="0E4D5C"/>
                </a:solidFill>
                <a:latin typeface="Arial"/>
              </a:rPr>
              <a:t>Штрафы от налоговой за пропущенный срок или неверный расчёт — десятки тысяч рублей.</a:t>
            </a:r>
          </a:p>
        </p:txBody>
      </p:sp>
      <p:sp>
        <p:nvSpPr>
          <p:cNvPr id="8" name="bullet-card"/>
          <p:cNvSpPr/>
          <p:nvPr/>
        </p:nvSpPr>
        <p:spPr>
          <a:xfrm>
            <a:off x="914400" y="212598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llet-marker"/>
          <p:cNvSpPr/>
          <p:nvPr/>
        </p:nvSpPr>
        <p:spPr>
          <a:xfrm>
            <a:off x="1112520" y="240792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20980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0">
                <a:solidFill>
                  <a:srgbClr val="0E4D5C"/>
                </a:solidFill>
                <a:latin typeface="Arial"/>
              </a:rPr>
              <a:t>Ошибки в отчётности: опечатки и неверные КБК ведут к переделкам и блокировке счёта.</a:t>
            </a:r>
          </a:p>
        </p:txBody>
      </p:sp>
      <p:sp>
        <p:nvSpPr>
          <p:cNvPr id="11" name="bullet-card"/>
          <p:cNvSpPr/>
          <p:nvPr/>
        </p:nvSpPr>
        <p:spPr>
          <a:xfrm>
            <a:off x="914400" y="288036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ullet-marker"/>
          <p:cNvSpPr/>
          <p:nvPr/>
        </p:nvSpPr>
        <p:spPr>
          <a:xfrm>
            <a:off x="1112520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96418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b="0">
                <a:solidFill>
                  <a:srgbClr val="0E4D5C"/>
                </a:solidFill>
                <a:latin typeface="Arial"/>
              </a:rPr>
              <a:t>Нехватка времени: предприниматель тратит часы на проводки вместо продаж.</a:t>
            </a:r>
          </a:p>
        </p:txBody>
      </p:sp>
      <p:sp>
        <p:nvSpPr>
          <p:cNvPr id="14" name="bullet-card"/>
          <p:cNvSpPr/>
          <p:nvPr/>
        </p:nvSpPr>
        <p:spPr>
          <a:xfrm>
            <a:off x="914400" y="3634740"/>
            <a:ext cx="10363200" cy="4343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-marker"/>
          <p:cNvSpPr/>
          <p:nvPr/>
        </p:nvSpPr>
        <p:spPr>
          <a:xfrm>
            <a:off x="111252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718560"/>
            <a:ext cx="9768840" cy="2667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0">
                <a:solidFill>
                  <a:srgbClr val="0E4D5C"/>
                </a:solidFill>
                <a:latin typeface="Arial"/>
              </a:rPr>
              <a:t>Увольнение штатного бухгалтера оставляет бизнес без сдачи отчётов.</a:t>
            </a:r>
          </a:p>
        </p:txBody>
      </p:sp>
      <p:sp>
        <p:nvSpPr>
          <p:cNvPr id="17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18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0E4D5C"/>
                </a:solidFill>
                <a:latin typeface="Arial"/>
              </a:rPr>
              <a:t>Аутсорсинг закрывает все задачи учёта одним решением.</a:t>
            </a:r>
          </a:p>
        </p:txBody>
      </p:sp>
      <p:sp>
        <p:nvSpPr>
          <p:cNvPr id="5" name="bullet-card"/>
          <p:cNvSpPr/>
          <p:nvPr/>
        </p:nvSpPr>
        <p:spPr>
          <a:xfrm>
            <a:off x="914400" y="137160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-marker"/>
          <p:cNvSpPr/>
          <p:nvPr/>
        </p:nvSpPr>
        <p:spPr>
          <a:xfrm>
            <a:off x="1112520" y="165354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45542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900" b="0">
                <a:solidFill>
                  <a:srgbClr val="0E4D5C"/>
                </a:solidFill>
                <a:latin typeface="Arial"/>
              </a:rPr>
              <a:t>Мы берём на себя учёт, налоги и юридические вопросы — вы получаете спокойствие.</a:t>
            </a:r>
          </a:p>
        </p:txBody>
      </p:sp>
      <p:sp>
        <p:nvSpPr>
          <p:cNvPr id="8" name="bullet-card"/>
          <p:cNvSpPr/>
          <p:nvPr/>
        </p:nvSpPr>
        <p:spPr>
          <a:xfrm>
            <a:off x="914400" y="212598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llet-marker"/>
          <p:cNvSpPr/>
          <p:nvPr/>
        </p:nvSpPr>
        <p:spPr>
          <a:xfrm>
            <a:off x="1112520" y="240792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20980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500" b="0">
                <a:solidFill>
                  <a:srgbClr val="0E4D5C"/>
                </a:solidFill>
                <a:latin typeface="Arial"/>
              </a:rPr>
              <a:t>Сами работаем на УСН и зарегистрированы как микропредприятие: живём в вашей специфике каждый день.</a:t>
            </a:r>
          </a:p>
        </p:txBody>
      </p:sp>
      <p:sp>
        <p:nvSpPr>
          <p:cNvPr id="11" name="bullet-card"/>
          <p:cNvSpPr/>
          <p:nvPr/>
        </p:nvSpPr>
        <p:spPr>
          <a:xfrm>
            <a:off x="914400" y="2880360"/>
            <a:ext cx="10363200" cy="647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ullet-marker"/>
          <p:cNvSpPr/>
          <p:nvPr/>
        </p:nvSpPr>
        <p:spPr>
          <a:xfrm>
            <a:off x="1112520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964180"/>
            <a:ext cx="976884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800" b="0">
                <a:solidFill>
                  <a:srgbClr val="0E4D5C"/>
                </a:solidFill>
                <a:latin typeface="Arial"/>
              </a:rPr>
              <a:t>Знаем предпринимателей на старте: где можно сэкономить, а где лучше не рисковать.</a:t>
            </a:r>
          </a:p>
        </p:txBody>
      </p:sp>
      <p:sp>
        <p:nvSpPr>
          <p:cNvPr id="14" name="bullet-card"/>
          <p:cNvSpPr/>
          <p:nvPr/>
        </p:nvSpPr>
        <p:spPr>
          <a:xfrm>
            <a:off x="914400" y="3634740"/>
            <a:ext cx="10363200" cy="4343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-marker"/>
          <p:cNvSpPr/>
          <p:nvPr/>
        </p:nvSpPr>
        <p:spPr>
          <a:xfrm>
            <a:off x="111252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718560"/>
            <a:ext cx="9768840" cy="2667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700" b="0">
                <a:solidFill>
                  <a:srgbClr val="0E4D5C"/>
                </a:solidFill>
                <a:latin typeface="Arial"/>
              </a:rPr>
              <a:t>Личный контроль руководителя Надежды Ждановой в каждом проекте.</a:t>
            </a:r>
          </a:p>
        </p:txBody>
      </p:sp>
      <p:sp>
        <p:nvSpPr>
          <p:cNvPr id="17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18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УСЛУГИ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0E4D5C"/>
                </a:solidFill>
                <a:latin typeface="Arial"/>
              </a:rPr>
              <a:t>Мы закрываем весь учёт — от проводок до правовой поддержки.</a:t>
            </a:r>
          </a:p>
        </p:txBody>
      </p:sp>
      <p:sp>
        <p:nvSpPr>
          <p:cNvPr id="5" name="comparison-card"/>
          <p:cNvSpPr/>
          <p:nvPr/>
        </p:nvSpPr>
        <p:spPr>
          <a:xfrm>
            <a:off x="9144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E4D5C"/>
                </a:solidFill>
                <a:latin typeface="Arial"/>
              </a:rPr>
              <a:t>Бухгалтерия</a:t>
            </a:r>
          </a:p>
        </p:txBody>
      </p:sp>
      <p:sp>
        <p:nvSpPr>
          <p:cNvPr id="7" name="hairline"/>
          <p:cNvSpPr/>
          <p:nvPr/>
        </p:nvSpPr>
        <p:spPr>
          <a:xfrm>
            <a:off x="10972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Ведение первички, проводок и регистров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Расчёт зарплаты и взносов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Сдача отчётности</a:t>
            </a:r>
          </a:p>
        </p:txBody>
      </p:sp>
      <p:sp>
        <p:nvSpPr>
          <p:cNvPr id="9" name="bullet-marker"/>
          <p:cNvSpPr/>
          <p:nvPr/>
        </p:nvSpPr>
        <p:spPr>
          <a:xfrm>
            <a:off x="10972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ison-card"/>
          <p:cNvSpPr/>
          <p:nvPr/>
        </p:nvSpPr>
        <p:spPr>
          <a:xfrm>
            <a:off x="44196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24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E4D5C"/>
                </a:solidFill>
                <a:latin typeface="Arial"/>
              </a:rPr>
              <a:t>Налоги</a:t>
            </a:r>
          </a:p>
        </p:txBody>
      </p:sp>
      <p:sp>
        <p:nvSpPr>
          <p:cNvPr id="12" name="hairline"/>
          <p:cNvSpPr/>
          <p:nvPr/>
        </p:nvSpPr>
        <p:spPr>
          <a:xfrm>
            <a:off x="46024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Расчёт налогов по УСН, НДС, прибыли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Подбор оптимального режима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Консультации простым языком</a:t>
            </a:r>
          </a:p>
        </p:txBody>
      </p:sp>
      <p:sp>
        <p:nvSpPr>
          <p:cNvPr id="14" name="bullet-marker"/>
          <p:cNvSpPr/>
          <p:nvPr/>
        </p:nvSpPr>
        <p:spPr>
          <a:xfrm>
            <a:off x="46024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parison-card"/>
          <p:cNvSpPr/>
          <p:nvPr/>
        </p:nvSpPr>
        <p:spPr>
          <a:xfrm>
            <a:off x="79248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E4D5C"/>
                </a:solidFill>
                <a:latin typeface="Arial"/>
              </a:rPr>
              <a:t>Право и управление</a:t>
            </a:r>
          </a:p>
        </p:txBody>
      </p:sp>
      <p:sp>
        <p:nvSpPr>
          <p:cNvPr id="17" name="hairline"/>
          <p:cNvSpPr/>
          <p:nvPr/>
        </p:nvSpPr>
        <p:spPr>
          <a:xfrm>
            <a:off x="81076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6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Договоры и регистрация изменений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Ответы на требования и споры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Настройка учёта под бизнес-процессы</a:t>
            </a:r>
          </a:p>
        </p:txBody>
      </p:sp>
      <p:sp>
        <p:nvSpPr>
          <p:cNvPr id="19" name="bullet-marker"/>
          <p:cNvSpPr/>
          <p:nvPr/>
        </p:nvSpPr>
        <p:spPr>
          <a:xfrm>
            <a:off x="81076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21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0E4D5C"/>
                </a:solidFill>
                <a:latin typeface="Arial"/>
              </a:rPr>
              <a:t>Мы подходим ИП, ООО на УСН, стартапам и малому бизнесу.</a:t>
            </a:r>
          </a:p>
        </p:txBody>
      </p:sp>
      <p:sp>
        <p:nvSpPr>
          <p:cNvPr id="5" name="comparison-card"/>
          <p:cNvSpPr/>
          <p:nvPr/>
        </p:nvSpPr>
        <p:spPr>
          <a:xfrm>
            <a:off x="9144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E4D5C"/>
                </a:solidFill>
                <a:latin typeface="Arial"/>
              </a:rPr>
              <a:t>ИП на УСН</a:t>
            </a:r>
          </a:p>
        </p:txBody>
      </p:sp>
      <p:sp>
        <p:nvSpPr>
          <p:cNvPr id="7" name="hairline"/>
          <p:cNvSpPr/>
          <p:nvPr/>
        </p:nvSpPr>
        <p:spPr>
          <a:xfrm>
            <a:off x="10972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Только начали и не хотите тратить время на декларации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Пакет «Базовый» с нужным минимумом</a:t>
            </a:r>
          </a:p>
        </p:txBody>
      </p:sp>
      <p:sp>
        <p:nvSpPr>
          <p:cNvPr id="9" name="bullet-marker"/>
          <p:cNvSpPr/>
          <p:nvPr/>
        </p:nvSpPr>
        <p:spPr>
          <a:xfrm>
            <a:off x="10972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ison-card"/>
          <p:cNvSpPr/>
          <p:nvPr/>
        </p:nvSpPr>
        <p:spPr>
          <a:xfrm>
            <a:off x="44196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24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E4D5C"/>
                </a:solidFill>
                <a:latin typeface="Arial"/>
              </a:rPr>
              <a:t>ООО на УСН</a:t>
            </a:r>
          </a:p>
        </p:txBody>
      </p:sp>
      <p:sp>
        <p:nvSpPr>
          <p:cNvPr id="12" name="hairline"/>
          <p:cNvSpPr/>
          <p:nvPr/>
        </p:nvSpPr>
        <p:spPr>
          <a:xfrm>
            <a:off x="46024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Нет штатного бухгалтера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Закрываем учёт и налоги целиком</a:t>
            </a:r>
          </a:p>
        </p:txBody>
      </p:sp>
      <p:sp>
        <p:nvSpPr>
          <p:cNvPr id="14" name="bullet-marker"/>
          <p:cNvSpPr/>
          <p:nvPr/>
        </p:nvSpPr>
        <p:spPr>
          <a:xfrm>
            <a:off x="46024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parison-card"/>
          <p:cNvSpPr/>
          <p:nvPr/>
        </p:nvSpPr>
        <p:spPr>
          <a:xfrm>
            <a:off x="79248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1">
                <a:solidFill>
                  <a:srgbClr val="0E4D5C"/>
                </a:solidFill>
                <a:latin typeface="Arial"/>
              </a:rPr>
              <a:t>Стартапы и малый бизнес</a:t>
            </a:r>
          </a:p>
        </p:txBody>
      </p:sp>
      <p:sp>
        <p:nvSpPr>
          <p:cNvPr id="17" name="hairline"/>
          <p:cNvSpPr/>
          <p:nvPr/>
        </p:nvSpPr>
        <p:spPr>
          <a:xfrm>
            <a:off x="81076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6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Понятная база учёта с первых дней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Стабильность и без сюрпризов от налоговой</a:t>
            </a:r>
          </a:p>
        </p:txBody>
      </p:sp>
      <p:sp>
        <p:nvSpPr>
          <p:cNvPr id="19" name="bullet-marker"/>
          <p:cNvSpPr/>
          <p:nvPr/>
        </p:nvSpPr>
        <p:spPr>
          <a:xfrm>
            <a:off x="81076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21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ТАРИФЫ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0E4D5C"/>
                </a:solidFill>
                <a:latin typeface="Arial"/>
              </a:rPr>
              <a:t>Три пакета — от ИП до ООО с юридическим сопровождением.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1372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0060"/>
                <a:gridCol w="2141220"/>
                <a:gridCol w="2141220"/>
                <a:gridCol w="2141220"/>
              </a:tblGrid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Возможности</a:t>
                      </a:r>
                    </a:p>
                  </a:txBody>
                  <a:tcPr anchor="ctr" marL="121920" marR="121920" marT="45720" marB="45720">
                    <a:solidFill>
                      <a:srgbClr val="0E4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Базовый (ИП)</a:t>
                      </a:r>
                    </a:p>
                  </a:txBody>
                  <a:tcPr anchor="ctr" marL="121920" marR="121920" marT="45720" marB="45720">
                    <a:solidFill>
                      <a:srgbClr val="0E4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Стандарт (ООО до 5)</a:t>
                      </a:r>
                    </a:p>
                  </a:txBody>
                  <a:tcPr anchor="ctr" marL="121920" marR="121920" marT="45720" marB="45720">
                    <a:solidFill>
                      <a:srgbClr val="0E4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Премиум (ООО до 15 + юрист)</a:t>
                      </a:r>
                    </a:p>
                  </a:txBody>
                  <a:tcPr anchor="ctr" marL="121920" marR="121920" marT="45720" marB="45720">
                    <a:solidFill>
                      <a:srgbClr val="0E4D5C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Бухгалтерский учёт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Сдача отчётности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Налоговые консультации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Расчёт зарплаты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Финансовый аудит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Раз в квартал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Ежемесячно</a:t>
                      </a:r>
                    </a:p>
                  </a:txBody>
                  <a:tcPr anchor="ctr" marL="121920" marR="12192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Юридическое сопровождение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D5C"/>
                          </a:solidFill>
                          <a:latin typeface="Arial"/>
                        </a:rPr>
                        <a:t>Личный контроль руководителя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4D5C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anchor="ctr" marL="121920" marR="121920" marT="45720" marB="45720"/>
                </a:tc>
              </a:tr>
            </a:tbl>
          </a:graphicData>
        </a:graphic>
      </p:graphicFrame>
      <p:sp>
        <p:nvSpPr>
          <p:cNvPr id="6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7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0E4D5C"/>
                </a:solidFill>
                <a:latin typeface="Arial"/>
              </a:rPr>
              <a:t>Наш процесс гарантирует сдачу отчётности без штрафов.</a:t>
            </a:r>
          </a:p>
        </p:txBody>
      </p:sp>
      <p:sp>
        <p:nvSpPr>
          <p:cNvPr id="5" name="process-card"/>
          <p:cNvSpPr/>
          <p:nvPr/>
        </p:nvSpPr>
        <p:spPr>
          <a:xfrm>
            <a:off x="762000" y="1676400"/>
            <a:ext cx="19507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-num"/>
          <p:cNvSpPr/>
          <p:nvPr/>
        </p:nvSpPr>
        <p:spPr>
          <a:xfrm>
            <a:off x="1584960" y="1828800"/>
            <a:ext cx="304800" cy="304800"/>
          </a:xfrm>
          <a:prstGeom prst="ellipse">
            <a:avLst/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" y="2270760"/>
            <a:ext cx="1706880" cy="381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0E4D5C"/>
                </a:solidFill>
                <a:latin typeface="Arial"/>
              </a:rPr>
              <a:t>Знакомство — слушаем задачи без сложных слов.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05000"/>
            <a:ext cx="365760" cy="335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0E4D5C"/>
                </a:solidFill>
                <a:latin typeface="Arial"/>
              </a:rPr>
              <a:t>→</a:t>
            </a:r>
          </a:p>
        </p:txBody>
      </p:sp>
      <p:sp>
        <p:nvSpPr>
          <p:cNvPr id="9" name="process-card"/>
          <p:cNvSpPr/>
          <p:nvPr/>
        </p:nvSpPr>
        <p:spPr>
          <a:xfrm>
            <a:off x="2941320" y="1676400"/>
            <a:ext cx="19507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-num"/>
          <p:cNvSpPr/>
          <p:nvPr/>
        </p:nvSpPr>
        <p:spPr>
          <a:xfrm>
            <a:off x="3764280" y="1828800"/>
            <a:ext cx="304800" cy="304800"/>
          </a:xfrm>
          <a:prstGeom prst="ellipse">
            <a:avLst/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70760"/>
            <a:ext cx="1706880" cy="381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0E4D5C"/>
                </a:solidFill>
                <a:latin typeface="Arial"/>
              </a:rPr>
              <a:t>Анализ — находим риски и точки экономии.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1080" y="1905000"/>
            <a:ext cx="365760" cy="335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0E4D5C"/>
                </a:solidFill>
                <a:latin typeface="Arial"/>
              </a:rPr>
              <a:t>→</a:t>
            </a:r>
          </a:p>
        </p:txBody>
      </p:sp>
      <p:sp>
        <p:nvSpPr>
          <p:cNvPr id="13" name="process-card"/>
          <p:cNvSpPr/>
          <p:nvPr/>
        </p:nvSpPr>
        <p:spPr>
          <a:xfrm>
            <a:off x="5120640" y="1676400"/>
            <a:ext cx="19507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-num"/>
          <p:cNvSpPr/>
          <p:nvPr/>
        </p:nvSpPr>
        <p:spPr>
          <a:xfrm>
            <a:off x="5943600" y="1828800"/>
            <a:ext cx="304800" cy="304800"/>
          </a:xfrm>
          <a:prstGeom prst="ellipse">
            <a:avLst/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2560" y="2270760"/>
            <a:ext cx="1706880" cy="381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0E4D5C"/>
                </a:solidFill>
                <a:latin typeface="Arial"/>
              </a:rPr>
              <a:t>Договор — фиксируем объём и стоимость на бумаге.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1905000"/>
            <a:ext cx="365760" cy="335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0E4D5C"/>
                </a:solidFill>
                <a:latin typeface="Arial"/>
              </a:rPr>
              <a:t>→</a:t>
            </a:r>
          </a:p>
        </p:txBody>
      </p:sp>
      <p:sp>
        <p:nvSpPr>
          <p:cNvPr id="17" name="process-card"/>
          <p:cNvSpPr/>
          <p:nvPr/>
        </p:nvSpPr>
        <p:spPr>
          <a:xfrm>
            <a:off x="7299960" y="1676400"/>
            <a:ext cx="19507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-num"/>
          <p:cNvSpPr/>
          <p:nvPr/>
        </p:nvSpPr>
        <p:spPr>
          <a:xfrm>
            <a:off x="8122920" y="1828800"/>
            <a:ext cx="304800" cy="304800"/>
          </a:xfrm>
          <a:prstGeom prst="ellipse">
            <a:avLst/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1880" y="2270760"/>
            <a:ext cx="1706880" cy="381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0E4D5C"/>
                </a:solidFill>
                <a:latin typeface="Arial"/>
              </a:rPr>
              <a:t>Ведение учёта — работаем с операциями каждый месяц.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905000"/>
            <a:ext cx="365760" cy="335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0E4D5C"/>
                </a:solidFill>
                <a:latin typeface="Arial"/>
              </a:rPr>
              <a:t>→</a:t>
            </a:r>
          </a:p>
        </p:txBody>
      </p:sp>
      <p:sp>
        <p:nvSpPr>
          <p:cNvPr id="21" name="process-card"/>
          <p:cNvSpPr/>
          <p:nvPr/>
        </p:nvSpPr>
        <p:spPr>
          <a:xfrm>
            <a:off x="9479280" y="1676400"/>
            <a:ext cx="19507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-num"/>
          <p:cNvSpPr/>
          <p:nvPr/>
        </p:nvSpPr>
        <p:spPr>
          <a:xfrm>
            <a:off x="10302240" y="1828800"/>
            <a:ext cx="304800" cy="304800"/>
          </a:xfrm>
          <a:prstGeom prst="ellipse">
            <a:avLst/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270760"/>
            <a:ext cx="1706880" cy="381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0E4D5C"/>
                </a:solidFill>
                <a:latin typeface="Arial"/>
              </a:rPr>
              <a:t>Сдача отчётности — отправляем в срок, без штрафов.</a:t>
            </a:r>
          </a:p>
        </p:txBody>
      </p:sp>
      <p:sp>
        <p:nvSpPr>
          <p:cNvPr id="24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25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100" b="1">
                <a:solidFill>
                  <a:srgbClr val="0E4D5C"/>
                </a:solidFill>
                <a:latin typeface="Arial"/>
              </a:rPr>
              <a:t>Мы гарантируем работу без штрафов и экономию до 50%.</a:t>
            </a:r>
          </a:p>
        </p:txBody>
      </p:sp>
      <p:sp>
        <p:nvSpPr>
          <p:cNvPr id="5" name="metric-card"/>
          <p:cNvSpPr/>
          <p:nvPr/>
        </p:nvSpPr>
        <p:spPr>
          <a:xfrm>
            <a:off x="914400" y="1371600"/>
            <a:ext cx="24765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6880"/>
            <a:ext cx="24765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6100" b="1">
                <a:solidFill>
                  <a:srgbClr val="0E4D5C"/>
                </a:solidFill>
                <a:latin typeface="Arial"/>
              </a:rPr>
              <a:t>до 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48000"/>
            <a:ext cx="2110740" cy="838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5C6B70"/>
                </a:solidFill>
                <a:latin typeface="Arial"/>
              </a:rPr>
              <a:t>экономия на бухгалтерии против штатного бухгалтера</a:t>
            </a:r>
          </a:p>
        </p:txBody>
      </p:sp>
      <p:sp>
        <p:nvSpPr>
          <p:cNvPr id="8" name="metric-card"/>
          <p:cNvSpPr/>
          <p:nvPr/>
        </p:nvSpPr>
        <p:spPr>
          <a:xfrm>
            <a:off x="3543300" y="1371600"/>
            <a:ext cx="24765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1706880"/>
            <a:ext cx="24765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6000" b="1">
                <a:solidFill>
                  <a:srgbClr val="3E7C8A"/>
                </a:solidFill>
                <a:latin typeface="Arial"/>
              </a:rPr>
              <a:t>с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180" y="3048000"/>
            <a:ext cx="2110740" cy="838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5C6B70"/>
                </a:solidFill>
                <a:latin typeface="Arial"/>
              </a:rPr>
              <a:t>ведём учёт для бизнеса Санкт-Петербурга</a:t>
            </a:r>
          </a:p>
        </p:txBody>
      </p:sp>
      <p:sp>
        <p:nvSpPr>
          <p:cNvPr id="11" name="metric-card"/>
          <p:cNvSpPr/>
          <p:nvPr/>
        </p:nvSpPr>
        <p:spPr>
          <a:xfrm>
            <a:off x="6172200" y="1371600"/>
            <a:ext cx="24765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706880"/>
            <a:ext cx="24765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6400" b="1">
                <a:solidFill>
                  <a:srgbClr val="2C7A85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48000"/>
            <a:ext cx="2110740" cy="838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300" b="0">
                <a:solidFill>
                  <a:srgbClr val="5C6B70"/>
                </a:solidFill>
                <a:latin typeface="Arial"/>
              </a:rPr>
              <a:t>направления экспертизы: бухгалтерия, налоги, право</a:t>
            </a:r>
          </a:p>
        </p:txBody>
      </p:sp>
      <p:sp>
        <p:nvSpPr>
          <p:cNvPr id="14" name="metric-card"/>
          <p:cNvSpPr/>
          <p:nvPr/>
        </p:nvSpPr>
        <p:spPr>
          <a:xfrm>
            <a:off x="8801100" y="1371600"/>
            <a:ext cx="24765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1100" y="1706880"/>
            <a:ext cx="24765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6400" b="1">
                <a:solidFill>
                  <a:srgbClr val="B5780A"/>
                </a:solidFill>
                <a:latin typeface="Arial"/>
              </a:rPr>
              <a:t>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3980" y="3048000"/>
            <a:ext cx="2110740" cy="838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5C6B70"/>
                </a:solidFill>
                <a:latin typeface="Arial"/>
              </a:rPr>
              <a:t>проверка цифр до сдачи каждой отчётности</a:t>
            </a:r>
          </a:p>
        </p:txBody>
      </p:sp>
      <p:sp>
        <p:nvSpPr>
          <p:cNvPr id="17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18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0E4D5C">
                    <a:alpha val="7000"/>
                  </a:srgbClr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120"/>
            <a:ext cx="829056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spc="320">
                <a:solidFill>
                  <a:srgbClr val="0E4D5C"/>
                </a:solidFill>
                <a:latin typeface="Arial"/>
              </a:rPr>
              <a:t>КЕЙСЫ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6720"/>
            <a:ext cx="107289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1">
                <a:solidFill>
                  <a:srgbClr val="0E4D5C"/>
                </a:solidFill>
                <a:latin typeface="Arial"/>
              </a:rPr>
              <a:t>Кейсы подтверждают экономию и спокойствие: налог −18%, передача за неделю.</a:t>
            </a:r>
          </a:p>
        </p:txBody>
      </p:sp>
      <p:sp>
        <p:nvSpPr>
          <p:cNvPr id="5" name="comparison-card"/>
          <p:cNvSpPr/>
          <p:nvPr/>
        </p:nvSpPr>
        <p:spPr>
          <a:xfrm>
            <a:off x="9144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0E4D5C"/>
                </a:solidFill>
                <a:latin typeface="Arial"/>
              </a:rPr>
              <a:t>ИП Соколов, торговля</a:t>
            </a:r>
          </a:p>
        </p:txBody>
      </p:sp>
      <p:sp>
        <p:nvSpPr>
          <p:cNvPr id="7" name="hairline"/>
          <p:cNvSpPr/>
          <p:nvPr/>
        </p:nvSpPr>
        <p:spPr>
          <a:xfrm>
            <a:off x="10972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Запутался в расчёте налога и боялся проверки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Настроили учёт с нуля, снизили налог на 18%</a:t>
            </a:r>
          </a:p>
        </p:txBody>
      </p:sp>
      <p:sp>
        <p:nvSpPr>
          <p:cNvPr id="9" name="bullet-marker"/>
          <p:cNvSpPr/>
          <p:nvPr/>
        </p:nvSpPr>
        <p:spPr>
          <a:xfrm>
            <a:off x="10972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ison-card"/>
          <p:cNvSpPr/>
          <p:nvPr/>
        </p:nvSpPr>
        <p:spPr>
          <a:xfrm>
            <a:off x="44196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24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0E4D5C"/>
                </a:solidFill>
                <a:latin typeface="Arial"/>
              </a:rPr>
              <a:t>ООО «Вектор-Сервис»</a:t>
            </a:r>
          </a:p>
        </p:txBody>
      </p:sp>
      <p:sp>
        <p:nvSpPr>
          <p:cNvPr id="12" name="hairline"/>
          <p:cNvSpPr/>
          <p:nvPr/>
        </p:nvSpPr>
        <p:spPr>
          <a:xfrm>
            <a:off x="46024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Бухгалтер уволился, отчётность не сдавалась 2 месяца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Приняли дела за неделю, сдали без штрафов</a:t>
            </a:r>
          </a:p>
        </p:txBody>
      </p:sp>
      <p:sp>
        <p:nvSpPr>
          <p:cNvPr id="14" name="bullet-marker"/>
          <p:cNvSpPr/>
          <p:nvPr/>
        </p:nvSpPr>
        <p:spPr>
          <a:xfrm>
            <a:off x="46024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parison-card"/>
          <p:cNvSpPr/>
          <p:nvPr/>
        </p:nvSpPr>
        <p:spPr>
          <a:xfrm>
            <a:off x="7924800" y="1371600"/>
            <a:ext cx="3352800" cy="487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>
            <a:outerShdw blurRad="127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1524000"/>
            <a:ext cx="2987040" cy="39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E4D5C"/>
                </a:solidFill>
                <a:latin typeface="Arial"/>
              </a:rPr>
              <a:t>Стартап «Лофт Проджект»</a:t>
            </a:r>
          </a:p>
        </p:txBody>
      </p:sp>
      <p:sp>
        <p:nvSpPr>
          <p:cNvPr id="17" name="hairline"/>
          <p:cNvSpPr/>
          <p:nvPr/>
        </p:nvSpPr>
        <p:spPr>
          <a:xfrm>
            <a:off x="8107680" y="1996440"/>
            <a:ext cx="2987040" cy="15240"/>
          </a:xfrm>
          <a:prstGeom prst="rect">
            <a:avLst/>
          </a:prstGeom>
          <a:solidFill>
            <a:srgbClr val="D7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680" y="2133600"/>
            <a:ext cx="2987040" cy="396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Нужна база учёта с первого месяца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E4D5C"/>
                </a:solidFill>
                <a:latin typeface="Arial"/>
              </a:rPr>
              <a:t>•  Настроили на 8 сотрудников, −12 ч/мес на администрирование</a:t>
            </a:r>
          </a:p>
        </p:txBody>
      </p:sp>
      <p:sp>
        <p:nvSpPr>
          <p:cNvPr id="19" name="bullet-marker"/>
          <p:cNvSpPr/>
          <p:nvPr/>
        </p:nvSpPr>
        <p:spPr>
          <a:xfrm>
            <a:off x="8107680" y="219456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</a:t>
            </a:r>
          </a:p>
        </p:txBody>
      </p:sp>
      <p:sp>
        <p:nvSpPr>
          <p:cNvPr id="21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5C6B70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host-num"/>
          <p:cNvSpPr txBox="1"/>
          <p:nvPr/>
        </p:nvSpPr>
        <p:spPr>
          <a:xfrm>
            <a:off x="8991600" y="-228600"/>
            <a:ext cx="2895600" cy="327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25800" b="1">
                <a:solidFill>
                  <a:srgbClr val="FFFFFF">
                    <a:alpha val="7000"/>
                  </a:srgbClr>
                </a:solidFill>
                <a:latin typeface="Arial"/>
              </a:rPr>
              <a:t>10</a:t>
            </a:r>
          </a:p>
        </p:txBody>
      </p:sp>
      <p:sp>
        <p:nvSpPr>
          <p:cNvPr id="3" name="decor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3E7C8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-533400" y="5334000"/>
            <a:ext cx="1600200" cy="1600200"/>
          </a:xfrm>
          <a:prstGeom prst="ellipse">
            <a:avLst/>
          </a:prstGeom>
          <a:solidFill>
            <a:srgbClr val="3E7C8A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70560"/>
            <a:ext cx="10728960" cy="167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200" b="1" spc="360">
                <a:solidFill>
                  <a:srgbClr val="DCEAE9"/>
                </a:solidFill>
                <a:latin typeface="Arial"/>
              </a:rPr>
              <a:t>КОНТАКТ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90600"/>
            <a:ext cx="10728960" cy="2514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Arial"/>
              </a:rPr>
              <a:t>Передайте учёт профессионалам — закажите консультацию.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10000"/>
            <a:ext cx="1072896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000" b="0">
                <a:solidFill>
                  <a:srgbClr val="FFFFFF">
                    <a:alpha val="82000"/>
                  </a:srgbClr>
                </a:solidFill>
                <a:latin typeface="Arial"/>
              </a:rPr>
              <a:t>zh_nadi@mail.ru — свяжемся в течение рабочего дня без давления и сложных терминов.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728960" cy="30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0">
                <a:solidFill>
                  <a:srgbClr val="FFFFFF">
                    <a:alpha val="70000"/>
                  </a:srgbClr>
                </a:solidFill>
                <a:latin typeface="Arial"/>
              </a:rPr>
              <a:t>ООО «НЕО КОНСАЛТИНГ»   ·   Санкт-Петербург, Московский пр-кт, д. 212</a:t>
            </a:r>
          </a:p>
        </p:txBody>
      </p:sp>
      <p:sp>
        <p:nvSpPr>
          <p:cNvPr id="9" name="chrome-logo"/>
          <p:cNvSpPr/>
          <p:nvPr/>
        </p:nvSpPr>
        <p:spPr>
          <a:xfrm>
            <a:off x="365760" y="21336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E4D5C"/>
                </a:solidFill>
                <a:latin typeface="Arial"/>
              </a:rPr>
              <a:t>Н</a:t>
            </a:r>
          </a:p>
        </p:txBody>
      </p:sp>
      <p:sp>
        <p:nvSpPr>
          <p:cNvPr id="10" name="chrome-page"/>
          <p:cNvSpPr txBox="1"/>
          <p:nvPr/>
        </p:nvSpPr>
        <p:spPr>
          <a:xfrm>
            <a:off x="10287000" y="243840"/>
            <a:ext cx="15392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1" spc="140">
                <a:solidFill>
                  <a:srgbClr val="C9DBDE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